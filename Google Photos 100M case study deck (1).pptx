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669280" cy="6858000"/>
          </a:xfrm>
          <a:prstGeom prst="roundRect">
            <a:avLst>
              <a:gd name="adj" fmla="val 0"/>
            </a:avLst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44805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Arial"/>
              </a:rPr>
              <a:t>GOOGLE PHOTOS  ·  PRODUCT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572000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From 10M to 100M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457200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Making every memory one tap away — reinventing search so photos find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44805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023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THE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02124"/>
                </a:solidFill>
                <a:latin typeface="Arial"/>
              </a:rPr>
              <a:t>Scope: </a:t>
            </a:r>
            <a:r>
              <a:rPr sz="1350">
                <a:solidFill>
                  <a:srgbClr val="202124"/>
                </a:solidFill>
                <a:latin typeface="Arial"/>
              </a:rPr>
              <a:t>10M active users today → 100M users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02124"/>
                </a:solidFill>
                <a:latin typeface="Arial"/>
              </a:rPr>
              <a:t>Goal: </a:t>
            </a:r>
            <a:r>
              <a:rPr sz="1350">
                <a:solidFill>
                  <a:srgbClr val="202124"/>
                </a:solidFill>
                <a:latin typeface="Arial"/>
              </a:rPr>
              <a:t>retain the existing 10M while adding new ones</a:t>
            </a:r>
          </a:p>
        </p:txBody>
      </p:sp>
      <p:pic>
        <p:nvPicPr>
          <p:cNvPr id="9" name="Picture 8" descr="media-generation-cover-hero-0-fc94b434-8635-4684-9653-b129100b8c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196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RESEARCH · APP-STORE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What users are telling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074920" cy="4663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ting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5262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709160"/>
            <a:ext cx="457200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50" b="0" i="1">
                <a:solidFill>
                  <a:srgbClr val="5F6368"/>
                </a:solidFill>
                <a:latin typeface="Arial"/>
              </a:rPr>
              <a:t>4.4★ looks healthy — but the long tail of 1–2★ reviews tells the real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08760"/>
            <a:ext cx="56235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A real review: face-recognition gap</a:t>
            </a:r>
          </a:p>
        </p:txBody>
      </p:sp>
      <p:pic>
        <p:nvPicPr>
          <p:cNvPr id="11" name="Picture 10" descr="orig_s2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4892040" cy="10424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3383280"/>
            <a:ext cx="4937760" cy="2103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Arial"/>
              </a:rPr>
              <a:t>Common themes across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39"/>
            <a:ext cx="49377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5F6368"/>
                </a:solidFill>
                <a:latin typeface="Arial"/>
              </a:rPr>
              <a:t>•  Face recognition misses — users want manual face tagging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5F6368"/>
                </a:solidFill>
                <a:latin typeface="Arial"/>
              </a:rPr>
              <a:t>•  Search returns literal matches, not what they meant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5F6368"/>
                </a:solidFill>
                <a:latin typeface="Arial"/>
              </a:rPr>
              <a:t>•  Duplicates and multi-device libraries feel chaotic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RESEARCH · WHO WE DESIGN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Segmentation through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5720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gment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20624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0" y="1508760"/>
            <a:ext cx="6126480" cy="1115568"/>
          </a:xfrm>
          <a:prstGeom prst="roundRect">
            <a:avLst>
              <a:gd name="adj" fmla="val 10000"/>
            </a:avLst>
          </a:prstGeom>
          <a:solidFill>
            <a:srgbClr val="EBF2FD"/>
          </a:solidFill>
          <a:ln w="1587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0" y="1709928"/>
            <a:ext cx="254000" cy="2540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618488"/>
            <a:ext cx="5029200" cy="38404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4285F4"/>
                </a:solidFill>
                <a:latin typeface="Arial"/>
              </a:rPr>
              <a:t>Event Archivists — 50%   ★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984248"/>
            <a:ext cx="50292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Parents &amp; families. Capture huge volumes around birthdays, weddings, school 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715768"/>
            <a:ext cx="61264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2916936"/>
            <a:ext cx="254000" cy="2540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825496"/>
            <a:ext cx="5029200" cy="38404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Social Snappers —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191256"/>
            <a:ext cx="50292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Young adults sharing everyday moments.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922776"/>
            <a:ext cx="61264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4123944"/>
            <a:ext cx="254000" cy="25400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32504"/>
            <a:ext cx="5029200" cy="38404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Memory Builders —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398264"/>
            <a:ext cx="50292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Travelers &amp; hobbyists curating collections.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129784"/>
            <a:ext cx="61264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5330952"/>
            <a:ext cx="254000" cy="2540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5239512"/>
            <a:ext cx="5029200" cy="38404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Overwhelmed Collectors —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605272"/>
            <a:ext cx="50292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Large libraries scattered across devices.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RESEARCH · HOW MEMORY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What users remember — and forget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34A853"/>
                </a:solidFill>
                <a:latin typeface="Arial"/>
              </a:rPr>
              <a:t>✅  They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Emotional context: </a:t>
            </a:r>
            <a:r>
              <a:rPr sz="1300">
                <a:solidFill>
                  <a:srgbClr val="202124"/>
                </a:solidFill>
                <a:latin typeface="Arial"/>
              </a:rPr>
              <a:t>“the day we laughed so much”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Visual cues: </a:t>
            </a:r>
            <a:r>
              <a:rPr sz="1300">
                <a:solidFill>
                  <a:srgbClr val="202124"/>
                </a:solidFill>
                <a:latin typeface="Arial"/>
              </a:rPr>
              <a:t>clothing, colors, objects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Social context: </a:t>
            </a:r>
            <a:r>
              <a:rPr sz="1300">
                <a:solidFill>
                  <a:srgbClr val="202124"/>
                </a:solidFill>
                <a:latin typeface="Arial"/>
              </a:rPr>
              <a:t>who was there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FD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475488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EA4335"/>
                </a:solidFill>
                <a:latin typeface="Arial"/>
              </a:rPr>
              <a:t>❌  They forget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7548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Exact timestamps: </a:t>
            </a:r>
            <a:r>
              <a:rPr sz="1300">
                <a:solidFill>
                  <a:srgbClr val="202124"/>
                </a:solidFill>
                <a:latin typeface="Arial"/>
              </a:rPr>
              <a:t>year, month, or day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File organization: </a:t>
            </a:r>
            <a:r>
              <a:rPr sz="1300">
                <a:solidFill>
                  <a:srgbClr val="202124"/>
                </a:solidFill>
                <a:latin typeface="Arial"/>
              </a:rPr>
              <a:t>album names, folders, devices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Location: </a:t>
            </a:r>
            <a:r>
              <a:rPr sz="1300">
                <a:solidFill>
                  <a:srgbClr val="202124"/>
                </a:solidFill>
                <a:latin typeface="Arial"/>
              </a:rPr>
              <a:t>unless it was a landmark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754880"/>
            <a:ext cx="11018520" cy="14173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92040"/>
            <a:ext cx="1033272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Arial"/>
              </a:rPr>
              <a:t>Hardest to retrieve: event-based photos · people-focused photos · everyday snapshots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332720" cy="7315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50" b="0" i="1">
                <a:solidFill>
                  <a:srgbClr val="5F6368"/>
                </a:solidFill>
                <a:latin typeface="Arial"/>
              </a:rPr>
              <a:t>So they search with approximations: “beach trip” instead of “Goa 2018”  ·  “around 2015?”  ·  “photos with Riya”  ·  “birthday + cake + red dress”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RESEARCH · THE RETRIEVAL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Finding a photo takes 4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72237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667512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50876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10896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2200" b="1" i="0">
                <a:solidFill>
                  <a:srgbClr val="EA4335"/>
                </a:solidFill>
                <a:latin typeface="Arial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39112"/>
            <a:ext cx="31089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of users find retrieval difficult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6974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788920"/>
            <a:ext cx="310896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2200" b="1" i="0">
                <a:solidFill>
                  <a:srgbClr val="FBBC04"/>
                </a:solidFill>
                <a:latin typeface="Arial"/>
              </a:rPr>
              <a:t>Steps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27832"/>
            <a:ext cx="31089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are where users drop 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88620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977639"/>
            <a:ext cx="310896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Arial"/>
              </a:rPr>
              <a:t>~30%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16552"/>
            <a:ext cx="31089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use voice search; the rest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507492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166359"/>
            <a:ext cx="310896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Arial"/>
              </a:rPr>
              <a:t>4 →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605272"/>
            <a:ext cx="31089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Arial"/>
              </a:rPr>
              <a:t>steps is the competitive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RESEARCH · EMPLOYEE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Four breakdowns in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37360"/>
            <a:ext cx="431800" cy="431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431800" cy="431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22860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Can’t express what they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286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Behavior: </a:t>
            </a:r>
            <a:r>
              <a:rPr sz="1100">
                <a:solidFill>
                  <a:srgbClr val="5F6368"/>
                </a:solidFill>
                <a:latin typeface="Arial"/>
              </a:rPr>
              <a:t>Recall fragments (a person, clothing, “summer trip”) but can’t form search terms.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Outcome: </a:t>
            </a:r>
            <a:r>
              <a:rPr sz="1100">
                <a:solidFill>
                  <a:srgbClr val="5F6368"/>
                </a:solidFill>
                <a:latin typeface="Arial"/>
              </a:rPr>
              <a:t>Retrieval fails before it begins.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Opportunity: </a:t>
            </a:r>
            <a:r>
              <a:rPr sz="1100">
                <a:solidFill>
                  <a:srgbClr val="5F6368"/>
                </a:solidFill>
                <a:latin typeface="Arial"/>
              </a:rPr>
              <a:t>Conversational search (“describe what you remember”) + voice/multimodal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50876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5031" y="1737360"/>
            <a:ext cx="431800" cy="4318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1" y="1719072"/>
            <a:ext cx="431800" cy="431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212848"/>
            <a:ext cx="22860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Photos misses their clues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2971800"/>
            <a:ext cx="2286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Behavior: </a:t>
            </a:r>
            <a:r>
              <a:rPr sz="1100">
                <a:solidFill>
                  <a:srgbClr val="5F6368"/>
                </a:solidFill>
                <a:latin typeface="Arial"/>
              </a:rPr>
              <a:t>“Beach trip” matches literal metadata only, missing semantic context.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Outcome: </a:t>
            </a:r>
            <a:r>
              <a:rPr sz="1100">
                <a:solidFill>
                  <a:srgbClr val="5F6368"/>
                </a:solidFill>
                <a:latin typeface="Arial"/>
              </a:rPr>
              <a:t>Relevant photos are excluded.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Opportunity: </a:t>
            </a:r>
            <a:r>
              <a:rPr sz="1100">
                <a:solidFill>
                  <a:srgbClr val="5F6368"/>
                </a:solidFill>
                <a:latin typeface="Arial"/>
              </a:rPr>
              <a:t>Semantic search, fuzzy matching, contextual inference.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50876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47104" y="1737360"/>
            <a:ext cx="431800" cy="43180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719072"/>
            <a:ext cx="431800" cy="431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212848"/>
            <a:ext cx="22860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Results are hard to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971800"/>
            <a:ext cx="2286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Behavior: </a:t>
            </a:r>
            <a:r>
              <a:rPr sz="1100">
                <a:solidFill>
                  <a:srgbClr val="5F6368"/>
                </a:solidFill>
                <a:latin typeface="Arial"/>
              </a:rPr>
              <a:t>Dozens of thumbnails with little context.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Outcome: </a:t>
            </a:r>
            <a:r>
              <a:rPr sz="1100">
                <a:solidFill>
                  <a:srgbClr val="5F6368"/>
                </a:solidFill>
                <a:latin typeface="Arial"/>
              </a:rPr>
              <a:t>Retrieval feels overwhelming.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Opportunity: </a:t>
            </a:r>
            <a:r>
              <a:rPr sz="1100">
                <a:solidFill>
                  <a:srgbClr val="5F6368"/>
                </a:solidFill>
                <a:latin typeface="Arial"/>
              </a:rPr>
              <a:t>Cluster by people/events, highlight remembered cues, richer previews.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50876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09176" y="1737360"/>
            <a:ext cx="431800" cy="4318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9176" y="1719072"/>
            <a:ext cx="431800" cy="431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212848"/>
            <a:ext cx="22860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350" b="1" i="0">
                <a:solidFill>
                  <a:srgbClr val="202124"/>
                </a:solidFill>
                <a:latin typeface="Arial"/>
              </a:rPr>
              <a:t>Can’t refine a failed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971800"/>
            <a:ext cx="2286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Behavior: </a:t>
            </a:r>
            <a:r>
              <a:rPr sz="1100">
                <a:solidFill>
                  <a:srgbClr val="5F6368"/>
                </a:solidFill>
                <a:latin typeface="Arial"/>
              </a:rPr>
              <a:t>Don’t know how to adjust queries.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Outcome: </a:t>
            </a:r>
            <a:r>
              <a:rPr sz="1100">
                <a:solidFill>
                  <a:srgbClr val="5F6368"/>
                </a:solidFill>
                <a:latin typeface="Arial"/>
              </a:rPr>
              <a:t>They abandon the search or scroll endlessly.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5F6368"/>
                </a:solidFill>
                <a:latin typeface="Arial"/>
              </a:rPr>
              <a:t>Opportunity: </a:t>
            </a:r>
            <a:r>
              <a:rPr sz="1100">
                <a:solidFill>
                  <a:srgbClr val="5F6368"/>
                </a:solidFill>
                <a:latin typeface="Arial"/>
              </a:rPr>
              <a:t>Guided refinement (“try narrowing by year”), interactive filters, search trails.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DEFINE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Retrieval fails at the memory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1018520" cy="777240"/>
          </a:xfrm>
          <a:prstGeom prst="roundRect">
            <a:avLst>
              <a:gd name="adj" fmla="val 8000"/>
            </a:avLst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33272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Arial"/>
              </a:rPr>
              <a:t>“Retrieval fails because rigid metadata can’t match vague recollection.”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5349240" cy="37033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663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Arial"/>
              </a:rPr>
              <a:t>Target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466344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50" b="0" i="0">
                <a:solidFill>
                  <a:srgbClr val="202124"/>
                </a:solidFill>
                <a:latin typeface="Arial"/>
              </a:rPr>
              <a:t>Event Archivists — parents &amp; families. They remember the occasion but forget the date, album, or device.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663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Arial"/>
              </a:rPr>
              <a:t>Root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6634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Memory fragments don’t become precise queries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Literal matching misses semantic context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Results are overwhelming and hard to evaluate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No guidance to refine unsuccessful searches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534924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edia-generation-scenario-search-0-fbf55ded-5bc8-41b2-9ee9-8960ac886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51760"/>
            <a:ext cx="489204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4892040"/>
            <a:ext cx="4892040" cy="10972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1">
                <a:solidFill>
                  <a:srgbClr val="5F6368"/>
                </a:solidFill>
                <a:latin typeface="Arial"/>
              </a:rPr>
              <a:t>A parent wants one birthday photo — child in a red dress. They remember “birthday + my child + red dress”, not the year, album, or device. Search returns unrelated photos.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DEFINE · VALUE &amp;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Why solving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🔄  Today’s workarounds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Endless scrolling through timelines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Guessing dates and retrying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Cross-checking WhatsApp and iCloud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Asking family members to recall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737360"/>
            <a:ext cx="301752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❤️  User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77440"/>
            <a:ext cx="30175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Less frustration and wasted time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Relive emotional memories more easily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Confidence Photos “thinks like memory”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Stronger emotional product connection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50876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EB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737360"/>
            <a:ext cx="301752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📈  Business 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377440"/>
            <a:ext cx="30175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Effortless retrieval → engagement &amp; retention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Differentiates with memory-aware search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Reinforces Google’s AI leadership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202124"/>
                </a:solidFill>
                <a:latin typeface="Arial"/>
              </a:rPr>
              <a:t>•  Monetization: premium features, storage upgrades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MEASURE · SUCCESS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How we’ll know it worked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989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trics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44068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120640"/>
            <a:ext cx="544068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200" b="0" i="1">
                <a:solidFill>
                  <a:srgbClr val="5F6368"/>
                </a:solidFill>
                <a:latin typeface="Arial"/>
              </a:rPr>
              <a:t>Move the primary metrics first; use diagnostics to pinpoint exactly where failures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08760"/>
            <a:ext cx="4709160" cy="4663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-generation-success-dashboard-0-6e1255fe-153b-4334-8426-c3201c86b1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1605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4206240"/>
            <a:ext cx="416052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North-star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617720"/>
            <a:ext cx="41605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Arial"/>
              </a:rPr>
              <a:t>Search success rate </a:t>
            </a:r>
            <a:r>
              <a:rPr sz="1250">
                <a:solidFill>
                  <a:srgbClr val="202124"/>
                </a:solidFill>
                <a:latin typeface="Arial"/>
              </a:rPr>
              <a:t>up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Arial"/>
              </a:rPr>
              <a:t>Time-to-photo </a:t>
            </a:r>
            <a:r>
              <a:rPr sz="1250">
                <a:solidFill>
                  <a:srgbClr val="202124"/>
                </a:solidFill>
                <a:latin typeface="Arial"/>
              </a:rPr>
              <a:t>down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Arial"/>
              </a:rPr>
              <a:t>Abandonment </a:t>
            </a:r>
            <a:r>
              <a:rPr sz="1250">
                <a:solidFill>
                  <a:srgbClr val="202124"/>
                </a:solidFill>
                <a:latin typeface="Arial"/>
              </a:rPr>
              <a:t>down, refinement engagement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5156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Arial"/>
              </a:rPr>
              <a:t>PLAN ·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51560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Key risks &amp; mitigation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70432"/>
            <a:ext cx="822960" cy="889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27432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200" b="1" i="0">
                <a:solidFill>
                  <a:srgbClr val="5F6368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44068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27000" cy="2212848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484632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Arial"/>
              </a:rPr>
              <a:t>1 · Expression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463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Risk: </a:t>
            </a:r>
            <a:r>
              <a:rPr sz="1150">
                <a:solidFill>
                  <a:srgbClr val="5F6368"/>
                </a:solidFill>
                <a:latin typeface="Arial"/>
              </a:rPr>
              <a:t>Users still struggle to articulate vague memories, even with voice or natural language.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Mitigation: </a:t>
            </a:r>
            <a:r>
              <a:rPr sz="1150">
                <a:solidFill>
                  <a:srgbClr val="5F6368"/>
                </a:solidFill>
                <a:latin typeface="Arial"/>
              </a:rPr>
              <a:t>Guided prompts — “Do you remember who was there?” “Was it indoors or outdoors?” — scaffold fragments into usable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4068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127000" cy="2212848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73351"/>
            <a:ext cx="484632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FBBC04"/>
                </a:solidFill>
                <a:latin typeface="Arial"/>
              </a:rPr>
              <a:t>2 · Interpretation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075688"/>
            <a:ext cx="48463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Risk: </a:t>
            </a:r>
            <a:r>
              <a:rPr sz="1150">
                <a:solidFill>
                  <a:srgbClr val="5F6368"/>
                </a:solidFill>
                <a:latin typeface="Arial"/>
              </a:rPr>
              <a:t>AI misreads vague clues and returns irrelevant clusters (“red dress” → all red objects).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Mitigation: </a:t>
            </a:r>
            <a:r>
              <a:rPr sz="1150">
                <a:solidFill>
                  <a:srgbClr val="5F6368"/>
                </a:solidFill>
                <a:latin typeface="Arial"/>
              </a:rPr>
              <a:t>Multi-signal fusion — combine people, event, time, and object recognition — plus interactive confirm/refine.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86200"/>
            <a:ext cx="544068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127000" cy="221284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484632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Arial"/>
              </a:rPr>
              <a:t>3 · Evaluation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53128"/>
            <a:ext cx="48463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Risk: </a:t>
            </a:r>
            <a:r>
              <a:rPr sz="1150">
                <a:solidFill>
                  <a:srgbClr val="5F6368"/>
                </a:solidFill>
                <a:latin typeface="Arial"/>
              </a:rPr>
              <a:t>Too many results overwhelm users; they can’t spot the right photo.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Mitigation: </a:t>
            </a:r>
            <a:r>
              <a:rPr sz="1150">
                <a:solidFill>
                  <a:srgbClr val="5F6368"/>
                </a:solidFill>
                <a:latin typeface="Arial"/>
              </a:rPr>
              <a:t>Smart clustering by event, person, and location; highlight remembered cues (“photos with Riya in a red dress”).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886200"/>
            <a:ext cx="544068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3886200"/>
            <a:ext cx="127000" cy="221284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50791"/>
            <a:ext cx="484632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Arial"/>
              </a:rPr>
              <a:t>4 · Refinement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484632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Risk: </a:t>
            </a:r>
            <a:r>
              <a:rPr sz="1150">
                <a:solidFill>
                  <a:srgbClr val="5F6368"/>
                </a:solidFill>
                <a:latin typeface="Arial"/>
              </a:rPr>
              <a:t>Users abandon search after one failed attempt.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F6368"/>
                </a:solidFill>
                <a:latin typeface="Arial"/>
              </a:rPr>
              <a:t>Mitigation: </a:t>
            </a:r>
            <a:r>
              <a:rPr sz="1150">
                <a:solidFill>
                  <a:srgbClr val="5F6368"/>
                </a:solidFill>
                <a:latin typeface="Arial"/>
              </a:rPr>
              <a:t>Guided suggestions (“try narrowing by year”, “add a person filter”) and visible search trails of past attempts.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Google Photos  ·  Scaling search to 100M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